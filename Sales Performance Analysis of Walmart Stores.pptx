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CA6336-86E6-4BA1-B124-39DB10699A0C}">
          <p14:sldIdLst>
            <p14:sldId id="256"/>
            <p14:sldId id="257"/>
          </p14:sldIdLst>
        </p14:section>
        <p14:section name="Untitled Section" id="{BFE25BA0-BEA5-4887-9754-E33760CDC80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591908297866999"/>
          <c:y val="0"/>
          <c:w val="0.42914400347074072"/>
          <c:h val="0.7021720835534535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65FA-497A-9AD0-43CC376494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5FA-497A-9AD0-43CC376494F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65FA-497A-9AD0-43CC376494F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5FA-497A-9AD0-43CC376494F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65FA-497A-9AD0-43CC376494F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5FA-497A-9AD0-43CC376494F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4-65FA-497A-9AD0-43CC376494F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FA-497A-9AD0-43CC376494F1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106200.37</c:v>
                </c:pt>
                <c:pt idx="1">
                  <c:v>104535.31</c:v>
                </c:pt>
                <c:pt idx="2">
                  <c:v>110568.7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A-497A-9AD0-43CC376494F1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58514586700637"/>
          <c:y val="0.29577397068202632"/>
          <c:w val="0.84744892161090657"/>
          <c:h val="0.611606334111737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Mandalay</c:v>
                </c:pt>
                <c:pt idx="1">
                  <c:v>Naypyitaw</c:v>
                </c:pt>
                <c:pt idx="2">
                  <c:v>Yangon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332</c:v>
                </c:pt>
                <c:pt idx="1">
                  <c:v>328</c:v>
                </c:pt>
                <c:pt idx="2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F-4CC0-9EB2-C64B8522AD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Mandalay</c:v>
                </c:pt>
                <c:pt idx="1">
                  <c:v>Naypyitaw</c:v>
                </c:pt>
                <c:pt idx="2">
                  <c:v>Yangon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40FF-4CC0-9EB2-C64B8522AD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Mandalay</c:v>
                </c:pt>
                <c:pt idx="1">
                  <c:v>Naypyitaw</c:v>
                </c:pt>
                <c:pt idx="2">
                  <c:v>Yangon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40FF-4CC0-9EB2-C64B8522AD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3221455"/>
        <c:axId val="93223375"/>
      </c:barChart>
      <c:catAx>
        <c:axId val="932214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223375"/>
        <c:crosses val="autoZero"/>
        <c:auto val="1"/>
        <c:lblAlgn val="ctr"/>
        <c:lblOffset val="100"/>
        <c:noMultiLvlLbl val="0"/>
      </c:catAx>
      <c:valAx>
        <c:axId val="932233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221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January</c:v>
                </c:pt>
                <c:pt idx="1">
                  <c:v>Februrary</c:v>
                </c:pt>
                <c:pt idx="2">
                  <c:v>March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116291</c:v>
                </c:pt>
                <c:pt idx="1">
                  <c:v>97219</c:v>
                </c:pt>
                <c:pt idx="2">
                  <c:v>109455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F2-437B-842B-342691258C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January</c:v>
                </c:pt>
                <c:pt idx="1">
                  <c:v>Februrary</c:v>
                </c:pt>
                <c:pt idx="2">
                  <c:v>March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F2-437B-842B-342691258C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January</c:v>
                </c:pt>
                <c:pt idx="1">
                  <c:v>Februrary</c:v>
                </c:pt>
                <c:pt idx="2">
                  <c:v>March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F2-437B-842B-342691258C6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17804543"/>
        <c:axId val="2017806943"/>
      </c:lineChart>
      <c:catAx>
        <c:axId val="201780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806943"/>
        <c:crosses val="autoZero"/>
        <c:auto val="1"/>
        <c:lblAlgn val="ctr"/>
        <c:lblOffset val="100"/>
        <c:noMultiLvlLbl val="0"/>
      </c:catAx>
      <c:valAx>
        <c:axId val="2017806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80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56758</c:v>
                </c:pt>
                <c:pt idx="1">
                  <c:v>40947</c:v>
                </c:pt>
                <c:pt idx="2">
                  <c:v>44292</c:v>
                </c:pt>
                <c:pt idx="3">
                  <c:v>47825</c:v>
                </c:pt>
                <c:pt idx="4">
                  <c:v>46106</c:v>
                </c:pt>
                <c:pt idx="5">
                  <c:v>40781</c:v>
                </c:pt>
                <c:pt idx="6">
                  <c:v>46254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79-44DE-9CDC-FB2D9DF269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C879-44DE-9CDC-FB2D9DF269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C879-44DE-9CDC-FB2D9DF269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70484207"/>
        <c:axId val="270484687"/>
      </c:barChart>
      <c:catAx>
        <c:axId val="270484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484687"/>
        <c:crosses val="autoZero"/>
        <c:auto val="1"/>
        <c:lblAlgn val="ctr"/>
        <c:lblOffset val="100"/>
        <c:noMultiLvlLbl val="0"/>
      </c:catAx>
      <c:valAx>
        <c:axId val="270484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484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3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18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2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77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6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61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1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0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3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671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5380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749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52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45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02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77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1850080-60E1-4EF4-BD57-53729D599B5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1C53A-7798-4C6C-8A5D-DC9F54B3FE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540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nancymanve100@gmail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1656-7F14-4A4B-5ED9-A20A0F8BD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Sales Performance Analysis of Walmart Stores</a:t>
            </a:r>
            <a:endParaRPr lang="en-IN" sz="3600" b="1" dirty="0">
              <a:solidFill>
                <a:srgbClr val="FF0000"/>
              </a:solidFill>
              <a:highlight>
                <a:srgbClr val="FFFF00"/>
              </a:highlight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8A61A-E47E-5A84-4280-F72A8A8A2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8548789" y="4789566"/>
            <a:ext cx="2898618" cy="932137"/>
          </a:xfrm>
          <a:noFill/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Nancy Manve</a:t>
            </a:r>
            <a:endParaRPr lang="en-IN" b="1" dirty="0">
              <a:solidFill>
                <a:srgbClr val="FF0000"/>
              </a:solidFill>
              <a:highlight>
                <a:srgbClr val="FFFF00"/>
              </a:highlight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19632-CBAF-FECD-184E-7BD27CDF807C}"/>
              </a:ext>
            </a:extLst>
          </p:cNvPr>
          <p:cNvSpPr txBox="1"/>
          <p:nvPr/>
        </p:nvSpPr>
        <p:spPr>
          <a:xfrm>
            <a:off x="407504" y="139148"/>
            <a:ext cx="5297557" cy="121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Video Link : </a:t>
            </a:r>
            <a:r>
              <a:rPr lang="en-US" b="1" u="sng" dirty="0"/>
              <a:t>https://www.loom.com/share/850e48a27a924a25bf6d806ddd2b283c?sid=8e871083-fedd-444b-ba90-6881f6e1456f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23927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45267C-F676-505E-F108-8FFC1D94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769164"/>
            <a:ext cx="9889367" cy="257423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+mn-lt"/>
              </a:rPr>
              <a:t>Objective:</a:t>
            </a:r>
            <a:br>
              <a:rPr lang="en-US" sz="2000" b="1" dirty="0">
                <a:latin typeface="+mn-lt"/>
              </a:rPr>
            </a:br>
            <a:r>
              <a:rPr lang="en-US" sz="2000" dirty="0">
                <a:latin typeface="+mn-lt"/>
              </a:rPr>
              <a:t>The main objective of this project is to analyze Walmart’s sales data using advanced MySQL techniques to derive meaningful insights. This includes identifying top-performing stores, understanding customer purchase behavior, and uncovering sales trends based on product categories, regions, and payment methods. The goal is to support data-driven decision-making for improving sales strategies and operational efficiency.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3441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84B5-E9ED-5B30-ED32-20BED71F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25" y="259571"/>
            <a:ext cx="9404723" cy="1400530"/>
          </a:xfrm>
        </p:spPr>
        <p:txBody>
          <a:bodyPr/>
          <a:lstStyle/>
          <a:p>
            <a:r>
              <a:rPr lang="en-US" sz="2000" b="1" dirty="0"/>
              <a:t>Task 1: Identifying the Top Branch by Sales Growth Rate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IN" sz="20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0BBBE4A-FDDA-FC3B-684A-A34E379A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75" y="3225022"/>
            <a:ext cx="3733759" cy="3409123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112301D-40F0-3CC6-5503-B9B99EFD48D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98174" y="1157908"/>
            <a:ext cx="6530009" cy="2767560"/>
          </a:xfrm>
        </p:spPr>
        <p:txBody>
          <a:bodyPr/>
          <a:lstStyle/>
          <a:p>
            <a:r>
              <a:rPr lang="en-US" b="1" dirty="0"/>
              <a:t>Input:     </a:t>
            </a:r>
            <a:endParaRPr lang="en-IN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7FDAF0-6F6E-1893-FA67-FEBC4ADEA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75" y="1660101"/>
            <a:ext cx="5818297" cy="15649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551FE2-3286-F494-354B-9C807A12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25" y="3578842"/>
            <a:ext cx="2962275" cy="28003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90BE85-2E17-ABAE-8298-A5C7E0210F4A}"/>
              </a:ext>
            </a:extLst>
          </p:cNvPr>
          <p:cNvSpPr txBox="1"/>
          <p:nvPr/>
        </p:nvSpPr>
        <p:spPr>
          <a:xfrm>
            <a:off x="3717234" y="5844209"/>
            <a:ext cx="7096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 Branch C has the highest sales 40343.69 in January Month.</a:t>
            </a:r>
            <a:endParaRPr lang="en-IN" b="1" dirty="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72C274DD-A1CE-7674-23C4-06932C7F69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033757"/>
              </p:ext>
            </p:extLst>
          </p:nvPr>
        </p:nvGraphicFramePr>
        <p:xfrm>
          <a:off x="7189841" y="2271091"/>
          <a:ext cx="3623932" cy="2315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024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3A90-1993-E6DD-36BD-B3AAECA7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7" y="283753"/>
            <a:ext cx="9404723" cy="1400530"/>
          </a:xfrm>
        </p:spPr>
        <p:txBody>
          <a:bodyPr/>
          <a:lstStyle/>
          <a:p>
            <a:r>
              <a:rPr lang="en-US" sz="2000" b="1" dirty="0"/>
              <a:t>Task 2 : Finding the Most Profitable Product Line for Each Branch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F829F-93CB-7454-2E01-3B605E47E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67" y="1205810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5149DA-9F3E-8C0D-3800-36C5DD40E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4348" y="1398451"/>
            <a:ext cx="4396341" cy="4200245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3998E-408E-EFE8-579C-6F9DC914C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6" y="1900237"/>
            <a:ext cx="5086859" cy="1777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308B65-3717-63A3-BEE2-A37D6E7E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348" y="2193544"/>
            <a:ext cx="3838575" cy="1190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DB8B3E-EF6B-4F79-5A00-72250FE70CAB}"/>
              </a:ext>
            </a:extLst>
          </p:cNvPr>
          <p:cNvSpPr txBox="1"/>
          <p:nvPr/>
        </p:nvSpPr>
        <p:spPr>
          <a:xfrm>
            <a:off x="450638" y="4259220"/>
            <a:ext cx="6244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  </a:t>
            </a:r>
          </a:p>
          <a:p>
            <a:r>
              <a:rPr lang="en-US" b="1" dirty="0"/>
              <a:t>Branch A earns the most profit from Home and Lifestyle.</a:t>
            </a:r>
          </a:p>
          <a:p>
            <a:r>
              <a:rPr lang="en-IN" b="1" dirty="0"/>
              <a:t>Branch B performs best in Sports and Travel. </a:t>
            </a:r>
          </a:p>
          <a:p>
            <a:r>
              <a:rPr lang="en-IN" b="1" dirty="0"/>
              <a:t>Branch C profits most from Food and Beverages.</a:t>
            </a:r>
          </a:p>
        </p:txBody>
      </p:sp>
    </p:spTree>
    <p:extLst>
      <p:ext uri="{BB962C8B-B14F-4D97-AF65-F5344CB8AC3E}">
        <p14:creationId xmlns:p14="http://schemas.microsoft.com/office/powerpoint/2010/main" val="77840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3E1-A772-990C-C1CB-71D905D7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Task 3 : Analyzing Customer Segmentation based on Spending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35D5D-61E8-6D24-E9A2-12E8EC2E0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8052" y="2060576"/>
            <a:ext cx="4770783" cy="3763754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B97B8-86E6-5F4E-541A-A7AF14A9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3"/>
            <a:ext cx="4612629" cy="4046534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9E99BC-7F11-2A43-898A-3D1A0AE3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90" y="2577660"/>
            <a:ext cx="4183927" cy="1284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9D7B8C-594B-CE13-E94C-76B403D2D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77660"/>
            <a:ext cx="3733800" cy="3181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42ADA9-6615-C4FC-65A3-5B1886F39326}"/>
              </a:ext>
            </a:extLst>
          </p:cNvPr>
          <p:cNvSpPr txBox="1"/>
          <p:nvPr/>
        </p:nvSpPr>
        <p:spPr>
          <a:xfrm>
            <a:off x="315088" y="4168335"/>
            <a:ext cx="511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 The person with Customer id 8 spends the highest with total purchase amount of 26634.35 including GST.</a:t>
            </a:r>
          </a:p>
          <a:p>
            <a:r>
              <a:rPr lang="en-US" b="1" dirty="0"/>
              <a:t>Created a column which categories the Customers based on the spending nature, Total Purchase &gt;= 25,000 as High Spender, Total Purchase &gt;=20,000 as Medium Spender else Low Spender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677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257C9E-D1A0-12AC-8C16-D6E31743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97" y="14495"/>
            <a:ext cx="9404723" cy="1400530"/>
          </a:xfrm>
        </p:spPr>
        <p:txBody>
          <a:bodyPr/>
          <a:lstStyle/>
          <a:p>
            <a:r>
              <a:rPr lang="en-US" sz="2000" b="1" dirty="0"/>
              <a:t>Task 4 : Detecting Anomalies in Sales Transactions</a:t>
            </a:r>
            <a:endParaRPr lang="en-IN" sz="20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C5E383-75CE-333F-CB89-30A328F3F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237" y="924339"/>
            <a:ext cx="4731025" cy="4313583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FEACD21-74A3-54E3-D1A8-43F357C94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4513" y="924340"/>
            <a:ext cx="5613085" cy="4422912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320F32-E594-E831-2436-A69B8057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66" y="1356672"/>
            <a:ext cx="4317339" cy="34555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7BC4F8-995D-25D9-F822-CA8640FA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256" y="1356672"/>
            <a:ext cx="5311598" cy="31971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1074DD-CAD8-562C-7591-85E980B20483}"/>
              </a:ext>
            </a:extLst>
          </p:cNvPr>
          <p:cNvSpPr txBox="1"/>
          <p:nvPr/>
        </p:nvSpPr>
        <p:spPr>
          <a:xfrm>
            <a:off x="288237" y="5244582"/>
            <a:ext cx="6857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 Anomalies represent transactions that are significantly larger than the typical sale for the production line.</a:t>
            </a:r>
          </a:p>
          <a:p>
            <a:r>
              <a:rPr lang="en-US" b="1" dirty="0"/>
              <a:t>Low Anomalies represent small transactions compared to the average.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99466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FE3B-D6D2-6EF7-1BC1-CEA4880CA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93" y="338209"/>
            <a:ext cx="9404723" cy="1400530"/>
          </a:xfrm>
        </p:spPr>
        <p:txBody>
          <a:bodyPr/>
          <a:lstStyle/>
          <a:p>
            <a:r>
              <a:rPr lang="en-US" sz="2000" b="1" dirty="0"/>
              <a:t>Task 5 : Most Popular Payment Method by City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1DB0-9293-1177-319F-1F776D268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793" y="1738740"/>
            <a:ext cx="4931103" cy="2753748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5D434-25B2-F93F-F6AD-09A243B66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512" y="3775739"/>
            <a:ext cx="4037911" cy="2875985"/>
          </a:xfrm>
        </p:spPr>
        <p:txBody>
          <a:bodyPr>
            <a:normAutofit/>
          </a:bodyPr>
          <a:lstStyle/>
          <a:p>
            <a:r>
              <a:rPr lang="en-US" sz="2000" b="1" dirty="0"/>
              <a:t>Output: 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A6EF5-886B-CC0F-4DFC-C570CCD59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93" y="2304027"/>
            <a:ext cx="4791075" cy="1314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C1AA3-A673-FB30-256B-0ADBD842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93" y="4183764"/>
            <a:ext cx="3943350" cy="2343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46CE7C-BD19-82E0-5BC8-B42261C0019F}"/>
              </a:ext>
            </a:extLst>
          </p:cNvPr>
          <p:cNvSpPr txBox="1"/>
          <p:nvPr/>
        </p:nvSpPr>
        <p:spPr>
          <a:xfrm>
            <a:off x="5567855" y="4492488"/>
            <a:ext cx="5386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 :</a:t>
            </a:r>
          </a:p>
          <a:p>
            <a:r>
              <a:rPr lang="en-US" b="1" dirty="0"/>
              <a:t>Mandalay: Most customers prefer E-wallet as their payment method.</a:t>
            </a:r>
          </a:p>
          <a:p>
            <a:r>
              <a:rPr lang="en-US" b="1" dirty="0"/>
              <a:t>Naypyitaw: cash is the most commonly used payment method.</a:t>
            </a:r>
          </a:p>
          <a:p>
            <a:r>
              <a:rPr lang="en-US" b="1" dirty="0"/>
              <a:t>Yangon: Customers mostly use E-wallet for transaction.</a:t>
            </a:r>
          </a:p>
          <a:p>
            <a:endParaRPr lang="en-IN" b="1" dirty="0"/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EB717EA-7750-00FB-0D31-E241C8C38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595284"/>
              </p:ext>
            </p:extLst>
          </p:nvPr>
        </p:nvGraphicFramePr>
        <p:xfrm>
          <a:off x="6417443" y="946130"/>
          <a:ext cx="3687417" cy="3237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9338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B1EE-2AEA-08A1-E432-BD117630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Task 6 : Monthly Sales Distribution by Gender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647B-ED09-5824-9363-7CF4D6F54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7877" y="1331118"/>
            <a:ext cx="5172075" cy="2525265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D277A-678D-9419-6277-34EC979ED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9952" y="1326636"/>
            <a:ext cx="4070743" cy="4200245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E8FBF-46A8-8684-E9F2-3C49C3BB8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77" y="2104152"/>
            <a:ext cx="5172075" cy="1057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0F35A5-3E0D-F4AB-4919-208C48A3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715" y="1818134"/>
            <a:ext cx="3067050" cy="1990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E27D7-F5E9-70BF-25AE-521596A2EB82}"/>
              </a:ext>
            </a:extLst>
          </p:cNvPr>
          <p:cNvSpPr txBox="1"/>
          <p:nvPr/>
        </p:nvSpPr>
        <p:spPr>
          <a:xfrm>
            <a:off x="457200" y="4403035"/>
            <a:ext cx="5436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</a:p>
          <a:p>
            <a:r>
              <a:rPr lang="en-US" b="1" dirty="0"/>
              <a:t>January and February: Female customers contributed higher sales than male customers.</a:t>
            </a:r>
          </a:p>
          <a:p>
            <a:r>
              <a:rPr lang="en-US" b="1" dirty="0"/>
              <a:t>March: Male customers total sales exceeded female, showing seasonal buying patterns.</a:t>
            </a:r>
          </a:p>
          <a:p>
            <a:r>
              <a:rPr lang="en-US" b="1" dirty="0"/>
              <a:t>Overall: Sales vary month-to-month and by gender, useful for gender-targeted promotions and marketing campaigns.</a:t>
            </a:r>
            <a:endParaRPr lang="en-IN" b="1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95E79AD-A795-FF5D-5067-BCD4D3F17D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2094513"/>
              </p:ext>
            </p:extLst>
          </p:nvPr>
        </p:nvGraphicFramePr>
        <p:xfrm>
          <a:off x="6707002" y="4006919"/>
          <a:ext cx="4070743" cy="2713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77918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B09F-75EE-99A5-F262-0A646ACB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Task 7 : Best Product Line by Customer Type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37F2-5861-0677-E695-19F1B1FB9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660" y="1331118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874DC-D5E8-8C44-C42B-DEFBA4DC1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4919" y="1359627"/>
            <a:ext cx="4396341" cy="4200245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6D44A-60C6-2617-91DA-8EE5EA6E8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0" y="1841060"/>
            <a:ext cx="3724275" cy="178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4C4F3B-C009-F2CE-F570-225A00B6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88" y="1803772"/>
            <a:ext cx="4801472" cy="32009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EC27CF-E3A0-BE24-2CCE-426C2DA432BB}"/>
              </a:ext>
            </a:extLst>
          </p:cNvPr>
          <p:cNvSpPr txBox="1"/>
          <p:nvPr/>
        </p:nvSpPr>
        <p:spPr>
          <a:xfrm>
            <a:off x="268357" y="3935896"/>
            <a:ext cx="53165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</a:p>
          <a:p>
            <a:r>
              <a:rPr lang="en-US" b="1" dirty="0"/>
              <a:t>Member prefer premium categories like Food and Beverages, Health and Beauty, Home and Lifestyle, Sports and travel.</a:t>
            </a:r>
          </a:p>
          <a:p>
            <a:r>
              <a:rPr lang="en-US" b="1" dirty="0"/>
              <a:t>Normal customers purchase more frequently but spend less per order.</a:t>
            </a:r>
          </a:p>
          <a:p>
            <a:r>
              <a:rPr lang="en-US" b="1" dirty="0"/>
              <a:t>The combination of Total Sales and Order Count provides insight into both revenue generation and purchase frequency.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9969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7DC8-5CD8-C4CB-04B1-8B456BE5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80" y="253936"/>
            <a:ext cx="9404723" cy="1400530"/>
          </a:xfrm>
        </p:spPr>
        <p:txBody>
          <a:bodyPr/>
          <a:lstStyle/>
          <a:p>
            <a:r>
              <a:rPr lang="en-US" sz="2000" b="1" dirty="0"/>
              <a:t>Task 8 : identifying Repeat Customers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CF7F-556F-0017-76D1-3F680083E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8180" y="1331118"/>
            <a:ext cx="4396339" cy="4195763"/>
          </a:xfrm>
        </p:spPr>
        <p:txBody>
          <a:bodyPr>
            <a:normAutofit/>
          </a:bodyPr>
          <a:lstStyle/>
          <a:p>
            <a:r>
              <a:rPr lang="en-US" b="1" dirty="0"/>
              <a:t>Input: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C208C-734B-2D30-9615-6B8521638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0288" y="1437836"/>
            <a:ext cx="5645634" cy="4195764"/>
          </a:xfrm>
        </p:spPr>
        <p:txBody>
          <a:bodyPr>
            <a:normAutofit/>
          </a:bodyPr>
          <a:lstStyle/>
          <a:p>
            <a:r>
              <a:rPr lang="en-US" sz="2000" b="1" dirty="0"/>
              <a:t>Output: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AC01D-1D3C-004D-118E-A3A441AA1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" y="1756783"/>
            <a:ext cx="6029325" cy="3562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63D93F-C6F6-AE21-0CC3-08217CC6D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288" y="1909183"/>
            <a:ext cx="5433532" cy="3409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6932BB-188E-6F30-C3BC-2449B73C07EF}"/>
              </a:ext>
            </a:extLst>
          </p:cNvPr>
          <p:cNvSpPr txBox="1"/>
          <p:nvPr/>
        </p:nvSpPr>
        <p:spPr>
          <a:xfrm>
            <a:off x="308180" y="5633600"/>
            <a:ext cx="11290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 Most of the customers are repeat customer, and many of them ordered on same day having different Invoice Id.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2848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946A-2F2A-7E97-A53D-F65EEB05B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Task 9: Finding Top 5 Customer by Sales Volume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0313-2524-6729-0AD1-E47286F23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938" y="1331118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5E742-1534-DE15-E019-2AD8647B8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5527" y="1326636"/>
            <a:ext cx="4396341" cy="4200245"/>
          </a:xfrm>
        </p:spPr>
        <p:txBody>
          <a:bodyPr/>
          <a:lstStyle/>
          <a:p>
            <a:r>
              <a:rPr lang="en-US" sz="2000" b="1" dirty="0"/>
              <a:t>Output: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0D064-F0E4-684B-3E2E-7DFAE5A8E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52" y="1950598"/>
            <a:ext cx="4629150" cy="156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C084C-3D93-C957-6916-70DD8D7D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54" y="1988698"/>
            <a:ext cx="2933700" cy="152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EFA770-9264-91DC-89E3-F7960F517710}"/>
              </a:ext>
            </a:extLst>
          </p:cNvPr>
          <p:cNvSpPr txBox="1"/>
          <p:nvPr/>
        </p:nvSpPr>
        <p:spPr>
          <a:xfrm>
            <a:off x="485752" y="3955774"/>
            <a:ext cx="5239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 Customer id 8 followed by 3, 2, 15 adn1 are the top 5 customers with high sales value.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4669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D6DF-19CF-A8A7-5B38-4560B227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41" y="214178"/>
            <a:ext cx="9404723" cy="1400530"/>
          </a:xfrm>
        </p:spPr>
        <p:txBody>
          <a:bodyPr/>
          <a:lstStyle/>
          <a:p>
            <a:r>
              <a:rPr lang="en-US" sz="2000" b="1" dirty="0"/>
              <a:t>Task 10: Analyzing sales trends by day of the Week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9DB5-9CA2-07CE-E87D-9F10AA77D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625" y="1331118"/>
            <a:ext cx="4396339" cy="4195763"/>
          </a:xfrm>
        </p:spPr>
        <p:txBody>
          <a:bodyPr>
            <a:normAutofit/>
          </a:bodyPr>
          <a:lstStyle/>
          <a:p>
            <a:r>
              <a:rPr lang="en-US" sz="2000" b="1" dirty="0"/>
              <a:t>Input:</a:t>
            </a:r>
            <a:endParaRPr lang="en-IN" sz="2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98490-B168-F23C-DE1D-4421EE80C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842" y="3315099"/>
            <a:ext cx="3210272" cy="4088713"/>
          </a:xfrm>
        </p:spPr>
        <p:txBody>
          <a:bodyPr>
            <a:normAutofit/>
          </a:bodyPr>
          <a:lstStyle/>
          <a:p>
            <a:pPr lvl="1"/>
            <a:r>
              <a:rPr lang="en-US" sz="1800" b="1" dirty="0"/>
              <a:t>Output:</a:t>
            </a:r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81FD6-5588-721E-5AFB-E9802812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38" y="1812441"/>
            <a:ext cx="4476750" cy="1304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8C71F2-B736-EBF0-278B-421D173BD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25" y="3982634"/>
            <a:ext cx="2409825" cy="2105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668581-78EE-772F-3F44-633835F5AA16}"/>
              </a:ext>
            </a:extLst>
          </p:cNvPr>
          <p:cNvSpPr txBox="1"/>
          <p:nvPr/>
        </p:nvSpPr>
        <p:spPr>
          <a:xfrm>
            <a:off x="6281530" y="1726239"/>
            <a:ext cx="4840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 Monday has the highest sales followed by Thursday.</a:t>
            </a:r>
          </a:p>
          <a:p>
            <a:r>
              <a:rPr lang="en-US" b="1" dirty="0"/>
              <a:t>Walmart can plan promotions or inventory stock more aggressively on high-sales days.</a:t>
            </a:r>
            <a:endParaRPr lang="en-IN" b="1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5A959AA-8AF3-C1DB-DBB3-EBFD545293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0685710"/>
              </p:ext>
            </p:extLst>
          </p:nvPr>
        </p:nvGraphicFramePr>
        <p:xfrm>
          <a:off x="5272273" y="3429000"/>
          <a:ext cx="5521624" cy="3498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95586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E2AA3-143B-A35E-3082-9A621969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09" y="1143001"/>
            <a:ext cx="9165605" cy="2514600"/>
          </a:xfrm>
        </p:spPr>
        <p:txBody>
          <a:bodyPr/>
          <a:lstStyle/>
          <a:p>
            <a:r>
              <a:rPr lang="en-US" sz="2000" b="1" dirty="0"/>
              <a:t>Name : Nancy Manve</a:t>
            </a:r>
            <a:br>
              <a:rPr lang="en-US" sz="2000" b="1" dirty="0"/>
            </a:br>
            <a:r>
              <a:rPr lang="en-US" sz="2000" b="1" dirty="0"/>
              <a:t>Email : </a:t>
            </a:r>
            <a:r>
              <a:rPr lang="en-US" sz="2000" b="1" dirty="0">
                <a:hlinkClick r:id="rId2"/>
              </a:rPr>
              <a:t>nancymanve100@gmail.com</a:t>
            </a:r>
            <a:br>
              <a:rPr lang="en-US" sz="2000" b="1" dirty="0"/>
            </a:br>
            <a:r>
              <a:rPr lang="en-US" sz="2000" b="1" dirty="0"/>
              <a:t>Contact No. : 8103397255</a:t>
            </a:r>
            <a:endParaRPr lang="en-IN" sz="2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D1F0A-58B4-3F86-57FB-3C99AB3B5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05045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418</TotalTime>
  <Words>586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Sales Performance Analysis of Walmart Stores</vt:lpstr>
      <vt:lpstr>Objective: The main objective of this project is to analyze Walmart’s sales data using advanced MySQL techniques to derive meaningful insights. This includes identifying top-performing stores, understanding customer purchase behavior, and uncovering sales trends based on product categories, regions, and payment methods. The goal is to support data-driven decision-making for improving sales strategies and operational efficiency. </vt:lpstr>
      <vt:lpstr>Task 1: Identifying the Top Branch by Sales Growth Rate   </vt:lpstr>
      <vt:lpstr>Task 2 : Finding the Most Profitable Product Line for Each Branch</vt:lpstr>
      <vt:lpstr>Task 3 : Analyzing Customer Segmentation based on Spending</vt:lpstr>
      <vt:lpstr>Task 4 : Detecting Anomalies in Sales Transactions</vt:lpstr>
      <vt:lpstr>Task 5 : Most Popular Payment Method by City</vt:lpstr>
      <vt:lpstr>Task 6 : Monthly Sales Distribution by Gender</vt:lpstr>
      <vt:lpstr>Task 7 : Best Product Line by Customer Type</vt:lpstr>
      <vt:lpstr>Task 8 : identifying Repeat Customers</vt:lpstr>
      <vt:lpstr>Task 9: Finding Top 5 Customer by Sales Volume</vt:lpstr>
      <vt:lpstr>Task 10: Analyzing sales trends by day of the Week</vt:lpstr>
      <vt:lpstr>Name : Nancy Manve Email : nancymanve100@gmail.com Contact No. : 8103397255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Manve</dc:creator>
  <cp:lastModifiedBy>Nancy Manve</cp:lastModifiedBy>
  <cp:revision>6</cp:revision>
  <dcterms:created xsi:type="dcterms:W3CDTF">2025-10-16T03:37:25Z</dcterms:created>
  <dcterms:modified xsi:type="dcterms:W3CDTF">2025-10-16T13:03:24Z</dcterms:modified>
</cp:coreProperties>
</file>